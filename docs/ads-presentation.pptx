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328"/>
                </a:solidFill>
                <a:latin typeface="Malgun Gothic"/>
              </a:rPr>
              <a:t>실제 Claude로 실행한 예제 (wordcount CLI) · 단계별 소요 시간(초)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소요 시간(초)</c:v>
                </c:pt>
              </c:strCache>
            </c:strRef>
          </c:tx>
          <c:spPr>
            <a:solidFill>
              <a:srgbClr val="1F9D55"/>
            </a:solidFill>
          </c:spPr>
          <c:cat>
            <c:strRef>
              <c:f>Sheet1!$A$2:$A$5</c:f>
              <c:strCache>
                <c:ptCount val="4"/>
                <c:pt idx="0">
                  <c:v>시작</c:v>
                </c:pt>
                <c:pt idx="1">
                  <c:v>plan</c:v>
                </c:pt>
                <c:pt idx="2">
                  <c:v>dev</c:v>
                </c:pt>
                <c:pt idx="3">
                  <c:v>test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141</c:v>
                </c:pt>
                <c:pt idx="2">
                  <c:v>64</c:v>
                </c:pt>
                <c:pt idx="3">
                  <c:v>38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1F2328"/>
                  </a:solidFill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0D7DE"/>
            </a:solidFill>
          </a:ln>
        </c:spPr>
        <c:txPr>
          <a:bodyPr/>
          <a:lstStyle/>
          <a:p>
            <a:pPr>
              <a:defRPr sz="1300">
                <a:solidFill>
                  <a:srgbClr val="1F2328"/>
                </a:solidFill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0D7D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9636E"/>
                </a:solidFill>
                <a:latin typeface="Malgun Gothi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ads는 개발자가 한 곳에 지시하면 Claude 에이전트 7개가 역할을 나눠 계획, 구현, 테스트를 진행하는 tmux 기반 개발 환경입니다. 오른쪽은 각 역할과 기본 모델입니다.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 세 개로 요약합니다. 에이전트 7개, 단계 3개, 개발자가 쓰는 입력 창 1개. 모든 에이전트는 실패해도 반드시 보고해야 하고, 메시지와 실제 산출물은 분리됩니다.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창 0에는 오케스트레이터, 플래너, 테스터, 그리고 개발자가 입력하는 pane이 있습니다. 창 1에는 평가자, 개발자 에이전트, 코더 두 명이 있습니다. 창 2는 슈퍼바이저 로그입니다. tmux 접두키는 바깥 tmux와 겹치지 않도록 Ctrl+a입니다.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개발자의 지시 한 건은 단계 하나만 실행합니다. plan은 플래너와 평가자가 계획을 주고받으며 다듬고, dev는 개발자 에이전트가 코더 두 명에게 적당한 분량씩 나눠 지시하며, test는 테스터가 검증합니다. 계획서는 평가자 검증 결과와 함께 보고됩니다.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메시지 본문은 파일에 저장하고, 상대 pane에는 한 줄짜리 포인터만 붙여 넣습니다. 슈퍼바이저만 화면에 쓰고, 상대가 idle일 때만 배달하므로 작업 중에 메시지가 끼어들거나 사라지지 않습니다. 배달 확인은 Claude Code hook으로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명세의 '반드시 보고', '지시 누락 없음'을 코드로 강제하는 장치들입니다. 보고를 빠뜨리면 hook이 재촉하고, 단계는 하나씩만 진행되며, 취소하면 하위 작업까지 정리됩니다.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개발자는 오른쪽 아래 pane에서만 입력합니다. vi 모드로 편집하고, Ctrl+J나 Alt+Enter로 줄을 바꾸며, 히스토리를 거슬러 올라갈 수 있습니다. 하단 툴바에 에이전트 상태와 현재 단계가 표시됩니다.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ads 폴더 하나로 여러 프로젝트를 관리합니다. 프로젝트별 상태는 ads/projects/&lt;이름&gt;에 두고, 소스는 ads 폴더 옆의 프로젝트 폴더에 둡니다. 프로젝트마다 별도 tmux 서버를 쓰므로 동시에 실행할 수 있고, Lab Notes가 담긴 CLAUDE.md도 프로젝트마다 따로 적용됩니다. projects/는 git에 올라가지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ads 자체도 같은 방식으로 만들었습니다. Fable 5.1 플래너와 평가자가 계획을 3라운드 검증했고, Opus 5.5 에이전트들이 마일스톤 10개로 구현했습니다. 자동 테스트 461개가 통과합니다. 실제 Claude로 작은 wordcount CLI를 계획-구현-테스트한 결과, 단계별로 2분 21초, 64초, 38초가 걸렸습니다.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설치는 clone, venv, pip 설치 세 단계입니다. Claude 로그인은 사용자 계정에 한 번만 하면 유지됩니다. ads 뒤에 프로젝트 이름만 주면 ads 폴더 옆에 프로젝트가 만들어지고 tmux 화면이 열립니다.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자동 테스트와 가짜 에이전트로는 검증했지만, 실제 Claude로 아직 돌려보지 않은 경로가 남아 있습니다. 다음 단계로 ASCII Tetris와 roguelike 데모를 통해 전체 흐름을 시연할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097280"/>
            <a:ext cx="6766560" cy="4206240"/>
          </a:xfrm>
          <a:prstGeom prst="roundRect">
            <a:avLst>
              <a:gd name="adj" fmla="val 6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" y="1252728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252728"/>
            <a:ext cx="100584" cy="100584"/>
          </a:xfrm>
          <a:prstGeom prst="ellipse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252728"/>
            <a:ext cx="100584" cy="100584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1161288"/>
            <a:ext cx="5852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08F"/>
                </a:solidFill>
                <a:latin typeface="Courier New"/>
              </a:rPr>
              <a:t>~/workspace $ ads audiso-rag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5EE08F"/>
                </a:solidFill>
                <a:latin typeface="Courier New"/>
              </a:rPr>
              <a:t>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8036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Audiso Development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2044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D1D9"/>
                </a:solidFill>
                <a:latin typeface="Malgun Gothic"/>
              </a:rPr>
              <a:t>tmux 기반 멀티 에이전트 개발 환경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9D1D9"/>
                </a:solidFill>
                <a:latin typeface="Malgun Gothic"/>
              </a:rPr>
              <a:t>Claude 에이전트 7개가 계획 · 구현 · 테스트를 나눠 맡는다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4300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14300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Malgun Gothic"/>
              </a:rPr>
              <a:t>Opus 5.5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2821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5EE08F"/>
                </a:solidFill>
                <a:latin typeface="Courier New"/>
              </a:rPr>
              <a:t>planner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728216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Malgun Gothic"/>
              </a:rPr>
              <a:t>Fable 5.1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1343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5EE08F"/>
                </a:solidFill>
                <a:latin typeface="Courier New"/>
              </a:rPr>
              <a:t>evaluator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2313432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Malgun Gothic"/>
              </a:rPr>
              <a:t>Fable 5.1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898648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5EE08F"/>
                </a:solidFill>
                <a:latin typeface="Courier New"/>
              </a:rPr>
              <a:t>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898648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Malgun Gothic"/>
              </a:rPr>
              <a:t>Sonnet 5.5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483864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5EE08F"/>
                </a:solidFill>
                <a:latin typeface="Courier New"/>
              </a:rPr>
              <a:t>coder-1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3483864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Malgun Gothic"/>
              </a:rPr>
              <a:t>Sonnet 5.5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06908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5EE08F"/>
                </a:solidFill>
                <a:latin typeface="Courier New"/>
              </a:rPr>
              <a:t>coder-2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4069080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Malgun Gothic"/>
              </a:rPr>
              <a:t>Sonnet 5.5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65429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5EE08F"/>
                </a:solidFill>
                <a:latin typeface="Courier New"/>
              </a:rPr>
              <a:t>tester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4654296"/>
            <a:ext cx="1645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Malgun Gothic"/>
              </a:rPr>
              <a:t>Sonnet 5.5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Malgun Gothic"/>
              </a:rPr>
              <a:t>Audiso ·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2328"/>
                </a:solidFill>
                <a:latin typeface="Malgun Gothic"/>
              </a:rPr>
              <a:t>한 곳에 지시하면, 팀처럼 일한다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9636E"/>
                </a:solidFill>
                <a:latin typeface="Malgun Gothic"/>
              </a:rPr>
              <a:t>개발자는 입력 pane 하나만 쓰고, 나머지는 에이전트들이 역할대로 처리하고 보고한다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1F9D55"/>
                </a:solidFill>
                <a:latin typeface="Courier New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Malgun Gothic"/>
              </a:rPr>
              <a:t>Claude 에이전트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636E"/>
                </a:solidFill>
                <a:latin typeface="Malgun Gothic"/>
              </a:rPr>
              <a:t>역할별 모델 · ads.toml로 변경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82880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19" y="20574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1F9D55"/>
                </a:solidFill>
                <a:latin typeface="Courier New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19" y="32461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Malgun Gothic"/>
              </a:rPr>
              <a:t>작업 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37033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636E"/>
                </a:solidFill>
                <a:latin typeface="Malgun Gothic"/>
              </a:rPr>
              <a:t>plan → dev →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82880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0574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 i="0">
                <a:solidFill>
                  <a:srgbClr val="1F9D55"/>
                </a:solidFill>
                <a:latin typeface="Courier New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324612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F2328"/>
                </a:solidFill>
                <a:latin typeface="Malgun Gothic"/>
              </a:rPr>
              <a:t>입력 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37033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636E"/>
                </a:solidFill>
                <a:latin typeface="Malgun Gothic"/>
              </a:rPr>
              <a:t>vi 모드 · 히스토리 · 여러 줄 입력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46320"/>
            <a:ext cx="11109960" cy="114300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6070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9D55"/>
                </a:solidFill>
                <a:latin typeface="Malgun Gothic"/>
              </a:rPr>
              <a:t>핵심 원칙  </a:t>
            </a:r>
            <a:r>
              <a:rPr sz="1600" b="0" i="0">
                <a:solidFill>
                  <a:srgbClr val="1F2328"/>
                </a:solidFill>
                <a:latin typeface="Malgun Gothic"/>
              </a:rPr>
              <a:t>지시를 받은 에이전트는 실패하더라도 반드시 지시자에게 결과를 보고한다. 지시와 실제 결과물(계획서 · 코드 · 문서)은 섞이지 않게 분리한다.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636E"/>
                </a:solidFill>
                <a:latin typeface="Malgun Gothic"/>
              </a:rPr>
              <a:t>ads · Audiso Development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636E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2328"/>
                </a:solidFill>
                <a:latin typeface="Malgun Gothic"/>
              </a:rPr>
              <a:t>화면 구성: tmux 창 2개, pane 8개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9636E"/>
                </a:solidFill>
                <a:latin typeface="Malgun Gothic"/>
              </a:rPr>
              <a:t>Ctrl+a 0 / 1 / 2 로 창 전환 · 마우스로 pane 선택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847088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47088"/>
            <a:ext cx="100584" cy="100584"/>
          </a:xfrm>
          <a:prstGeom prst="ellipse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847088"/>
            <a:ext cx="100584" cy="100584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755648"/>
            <a:ext cx="4480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08F"/>
                </a:solidFill>
                <a:latin typeface="Courier New"/>
              </a:rPr>
              <a:t>window 0 ·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2395728" cy="1536192"/>
          </a:xfrm>
          <a:prstGeom prst="roundRect">
            <a:avLst>
              <a:gd name="adj" fmla="val 5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14600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Malgun Gothic"/>
              </a:rPr>
              <a:t>Opus 5.5 · 지시 분류/전달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2240280"/>
            <a:ext cx="2395728" cy="1536192"/>
          </a:xfrm>
          <a:prstGeom prst="roundRect">
            <a:avLst>
              <a:gd name="adj" fmla="val 5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2514600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3017520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Malgun Gothic"/>
              </a:rPr>
              <a:t>Fable 5.1 · 계획 수립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2395728" cy="1536192"/>
          </a:xfrm>
          <a:prstGeom prst="roundRect">
            <a:avLst>
              <a:gd name="adj" fmla="val 5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97096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tester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700016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Malgun Gothic"/>
              </a:rPr>
              <a:t>Sonnet 5.5 · 테스트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9272" y="3922776"/>
            <a:ext cx="2395728" cy="1536192"/>
          </a:xfrm>
          <a:prstGeom prst="roundRect">
            <a:avLst>
              <a:gd name="adj" fmla="val 5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2152" y="4197096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ads&gt;  (나)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4700016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개발자 입력 pane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69164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1847088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29400" y="1847088"/>
            <a:ext cx="100584" cy="100584"/>
          </a:xfrm>
          <a:prstGeom prst="ellipse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12280" y="1847088"/>
            <a:ext cx="100584" cy="100584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79" y="1755648"/>
            <a:ext cx="4480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08F"/>
                </a:solidFill>
                <a:latin typeface="Courier New"/>
              </a:rPr>
              <a:t>window 1 · 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240280"/>
            <a:ext cx="2395728" cy="1536192"/>
          </a:xfrm>
          <a:prstGeom prst="roundRect">
            <a:avLst>
              <a:gd name="adj" fmla="val 5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514600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evaluator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017520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Malgun Gothic"/>
              </a:rPr>
              <a:t>Fable 5.1 · 계획 검증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34272" y="2240280"/>
            <a:ext cx="2395728" cy="1536192"/>
          </a:xfrm>
          <a:prstGeom prst="roundRect">
            <a:avLst>
              <a:gd name="adj" fmla="val 5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17151" y="2514600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developer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1" y="3017520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Malgun Gothic"/>
              </a:rPr>
              <a:t>Sonnet 5.5 · 작업 분배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922776"/>
            <a:ext cx="2395728" cy="1536192"/>
          </a:xfrm>
          <a:prstGeom prst="roundRect">
            <a:avLst>
              <a:gd name="adj" fmla="val 5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197096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coder-1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700016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Malgun Gothic"/>
              </a:rPr>
              <a:t>Sonnet 5.5 · 구현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34272" y="3922776"/>
            <a:ext cx="2395728" cy="1536192"/>
          </a:xfrm>
          <a:prstGeom prst="roundRect">
            <a:avLst>
              <a:gd name="adj" fmla="val 5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7151" y="4197096"/>
            <a:ext cx="20299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coder-2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1" y="4700016"/>
            <a:ext cx="20299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Malgun Gothic"/>
              </a:rPr>
              <a:t>Sonnet 5.5 · 구현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9D55"/>
                </a:solidFill>
                <a:latin typeface="Courier New"/>
              </a:rPr>
              <a:t>window 2 · supervisor  </a:t>
            </a:r>
            <a:r>
              <a:rPr sz="1400" b="0" i="0">
                <a:solidFill>
                  <a:srgbClr val="59636E"/>
                </a:solidFill>
                <a:latin typeface="Malgun Gothic"/>
              </a:rPr>
              <a:t>메시지 배달 루프와 로그 (화면에 직접 쓰는 유일한 프로세스)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636E"/>
                </a:solidFill>
                <a:latin typeface="Malgun Gothic"/>
              </a:rPr>
              <a:t>ads · Audiso Development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636E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2328"/>
                </a:solidFill>
                <a:latin typeface="Malgun Gothic"/>
              </a:rPr>
              <a:t>지시 1건 = 단계 1개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9636E"/>
                </a:solidFill>
                <a:latin typeface="Malgun Gothic"/>
              </a:rPr>
              <a:t>오케스트레이터가 지시를 plan / dev / test 중 하나로 분류해 전달한다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4612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개발자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3520440"/>
            <a:ext cx="594360" cy="0"/>
          </a:xfrm>
          <a:prstGeom prst="line">
            <a:avLst/>
          </a:prstGeom>
          <a:ln w="22225">
            <a:solidFill>
              <a:srgbClr val="5963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514600" y="324612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141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orchestrator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4434840" y="2103120"/>
            <a:ext cx="640080" cy="1417320"/>
          </a:xfrm>
          <a:prstGeom prst="line">
            <a:avLst/>
          </a:prstGeom>
          <a:ln w="22225">
            <a:solidFill>
              <a:srgbClr val="5963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4920" y="1828800"/>
            <a:ext cx="868680" cy="548640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1F2328"/>
                </a:solidFill>
                <a:latin typeface="Courier New"/>
              </a:rPr>
              <a:t>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828800"/>
            <a:ext cx="411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9636E"/>
                </a:solidFill>
                <a:latin typeface="Malgun Gothic"/>
              </a:rPr>
              <a:t>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1F2328"/>
                </a:solidFill>
                <a:latin typeface="Courier New"/>
              </a:rPr>
              <a:t>evaluator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423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계획 ⇄ 검증 반복 (최대 3회)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434840" y="3520439"/>
            <a:ext cx="640080" cy="1"/>
          </a:xfrm>
          <a:prstGeom prst="line">
            <a:avLst/>
          </a:prstGeom>
          <a:ln w="22225">
            <a:solidFill>
              <a:srgbClr val="5963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3246120"/>
            <a:ext cx="868680" cy="548640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dev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4612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1F2328"/>
                </a:solidFill>
                <a:latin typeface="Courier New"/>
              </a:rPr>
              <a:t>developer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46120"/>
            <a:ext cx="411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9636E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32461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1F2328"/>
                </a:solidFill>
                <a:latin typeface="Courier New"/>
              </a:rPr>
              <a:t>coder-1 · coder-2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840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작업을 나눠 순차 지시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34840" y="3520440"/>
            <a:ext cx="640080" cy="1417319"/>
          </a:xfrm>
          <a:prstGeom prst="line">
            <a:avLst/>
          </a:prstGeom>
          <a:ln w="22225">
            <a:solidFill>
              <a:srgbClr val="5963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74920" y="4663440"/>
            <a:ext cx="868680" cy="548640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ourier New"/>
              </a:rPr>
              <a:t>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663440"/>
            <a:ext cx="1600200" cy="54864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>
                <a:solidFill>
                  <a:srgbClr val="1F2328"/>
                </a:solidFill>
                <a:latin typeface="Courier New"/>
              </a:rPr>
              <a:t>tester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257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테스트 실행 · 근거 보고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86400"/>
            <a:ext cx="11109960" cy="68580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10698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9D55"/>
                </a:solidFill>
                <a:latin typeface="Malgun Gothic"/>
              </a:rPr>
              <a:t>규칙  </a:t>
            </a:r>
            <a:r>
              <a:rPr sz="1400" b="0" i="0">
                <a:solidFill>
                  <a:srgbClr val="1F2328"/>
                </a:solidFill>
                <a:latin typeface="Malgun Gothic"/>
              </a:rPr>
              <a:t>단계를 자동으로 이어 붙이지 않는다. 계획이 끝나면 개발자가 "구현해줘"라고 지시해야 다음 단계로 간다.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636E"/>
                </a:solidFill>
                <a:latin typeface="Malgun Gothic"/>
              </a:rPr>
              <a:t>ads · Audiso Development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636E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2328"/>
                </a:solidFill>
                <a:latin typeface="Malgun Gothic"/>
              </a:rPr>
              <a:t>메시지 버스: 내용은 파일로, 화면에는 한 줄만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9636E"/>
                </a:solidFill>
                <a:latin typeface="Malgun Gothic"/>
              </a:rPr>
              <a:t>지시 · 보고가 실제 결과물과 섞이지 않도록 분리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560320" cy="246888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ourier New"/>
              </a:rPr>
              <a:t>ads send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에이전트가 메시지를 보내면</a:t>
            </a:r>
          </a:p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본문이 파일로 저장된다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898648"/>
            <a:ext cx="274320" cy="0"/>
          </a:xfrm>
          <a:prstGeom prst="line">
            <a:avLst/>
          </a:prstGeom>
          <a:ln w="22225">
            <a:solidFill>
              <a:srgbClr val="1F9D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3280" y="1783080"/>
            <a:ext cx="2560320" cy="246888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11880" y="1965960"/>
            <a:ext cx="502920" cy="502920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060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ourier New"/>
              </a:rPr>
              <a:t>supervisor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01752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받는 에이전트가 idle일 때만</a:t>
            </a:r>
          </a:p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한 줄 포인터를 붙여 넣는다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2898648"/>
            <a:ext cx="274320" cy="0"/>
          </a:xfrm>
          <a:prstGeom prst="line">
            <a:avLst/>
          </a:prstGeom>
          <a:ln w="22225">
            <a:solidFill>
              <a:srgbClr val="1F9D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1783080"/>
            <a:ext cx="2560320" cy="246888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965960"/>
            <a:ext cx="502920" cy="502920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060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ourier New"/>
              </a:rPr>
              <a:t>Claude 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1752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제출 · 종료 이벤트로</a:t>
            </a:r>
          </a:p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배달 확인과 상태 추적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78240" y="2898648"/>
            <a:ext cx="274320" cy="0"/>
          </a:xfrm>
          <a:prstGeom prst="line">
            <a:avLst/>
          </a:prstGeom>
          <a:ln w="22225">
            <a:solidFill>
              <a:srgbClr val="1F9D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560" y="1783080"/>
            <a:ext cx="2560320" cy="246888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81160" y="1965960"/>
            <a:ext cx="502920" cy="502920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6060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328"/>
                </a:solidFill>
                <a:latin typeface="Courier New"/>
              </a:rPr>
              <a:t>ledger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01752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답장(--re)이 오면 작업 종료</a:t>
            </a:r>
          </a:p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보고 누락 시 재촉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72000"/>
            <a:ext cx="11109960" cy="1463040"/>
          </a:xfrm>
          <a:prstGeom prst="roundRect">
            <a:avLst>
              <a:gd name="adj" fmla="val 6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727448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4727448"/>
            <a:ext cx="100584" cy="100584"/>
          </a:xfrm>
          <a:prstGeom prst="ellipse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7280" y="4727448"/>
            <a:ext cx="100584" cy="100584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636008"/>
            <a:ext cx="10195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08F"/>
                </a:solidFill>
                <a:latin typeface="Courier New"/>
              </a:rPr>
              <a:t>pane에 붙여 넣는 포인터 (본문은 파일에)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29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EE08F"/>
                </a:solidFill>
                <a:latin typeface="Courier New"/>
              </a:rPr>
              <a:t>[ADS-MSG id=m-20261005-000012 from=orchestrator type=instruct]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EE08F"/>
                </a:solidFill>
                <a:latin typeface="Courier New"/>
              </a:rPr>
              <a:t>Read .../projects/audiso-rag/work/msgs/m-20261005-000012.md and follow the ADS protocol.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636E"/>
                </a:solidFill>
                <a:latin typeface="Malgun Gothic"/>
              </a:rPr>
              <a:t>ads · Audiso Development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636E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2328"/>
                </a:solidFill>
                <a:latin typeface="Malgun Gothic"/>
              </a:rPr>
              <a:t>놓치지 않는 규칙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9636E"/>
                </a:solidFill>
                <a:latin typeface="Malgun Gothic"/>
              </a:rPr>
              <a:t>ledger와 상태 기계가 보고 · 순서 · 취소를 강제한다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292608" cy="292608"/>
          </a:xfrm>
          <a:prstGeom prst="ellipse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1892807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Malgun Gothic"/>
              </a:rPr>
              <a:t>보고 강제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보고 없이 턴을 끝내면 Stop hook이 2번 재촉, 그래도 없으면 지시자에게 missing-report 통지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3736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79" y="1965960"/>
            <a:ext cx="292608" cy="29260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892807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Malgun Gothic"/>
              </a:rPr>
              <a:t>단계 직렬화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46888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진행 중인 단계가 있으면 새 단계 지시는 보류(held), 끝나면 순서대로 배달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3736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19" y="1965960"/>
            <a:ext cx="292608" cy="292608"/>
          </a:xfrm>
          <a:prstGeom prst="ellipse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799" y="1892807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Malgun Gothic"/>
              </a:rPr>
              <a:t>취소 · 대체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46888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"취소" 지시는 진행 중 작업과 하위 작업까지 superseded 처리하고 담당자에게 중단 통지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114800"/>
            <a:ext cx="292608" cy="29260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19" y="404164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Malgun Gothic"/>
              </a:rPr>
              <a:t>idle일 때만 배달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작업 중인 에이전트에게는 붙여 넣지 않고 큐에 보관, 메시지 유실 없음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8862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79" y="4114800"/>
            <a:ext cx="292608" cy="29260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59" y="404164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Malgun Gothic"/>
              </a:rPr>
              <a:t>장애 감지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461772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pane이 죽으면 5초 후 agent-down 통지, ads restart로 대화 이어서 재시작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88620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75319" y="4114800"/>
            <a:ext cx="292608" cy="292608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799" y="404164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328"/>
                </a:solidFill>
                <a:latin typeface="Malgun Gothic"/>
              </a:rPr>
              <a:t>대화창 자동 응답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61772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trust · bypass 시작 대화창은 watchdog이 화면을 읽고 키로 응답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636E"/>
                </a:solidFill>
                <a:latin typeface="Malgun Gothic"/>
              </a:rPr>
              <a:t>ads · Audiso Development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636E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2328"/>
                </a:solidFill>
                <a:latin typeface="Malgun Gothic"/>
              </a:rPr>
              <a:t>개발자 입력 pane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9636E"/>
                </a:solidFill>
                <a:latin typeface="Malgun Gothic"/>
              </a:rPr>
              <a:t>prompt_toolkit 기반 · vi 모드 편집 · 히스토리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486400" cy="4206240"/>
          </a:xfrm>
          <a:prstGeom prst="roundRect">
            <a:avLst>
              <a:gd name="adj" fmla="val 6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892807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92807"/>
            <a:ext cx="100584" cy="100584"/>
          </a:xfrm>
          <a:prstGeom prst="ellipse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892807"/>
            <a:ext cx="100584" cy="100584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801368"/>
            <a:ext cx="4572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08F"/>
                </a:solidFill>
                <a:latin typeface="Courier New"/>
              </a:rPr>
              <a:t>pane 3 · ads&gt;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9377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EE08F"/>
                </a:solidFill>
                <a:latin typeface="Courier New"/>
              </a:rPr>
              <a:t>ads&gt; 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roguelike 게임 계획을 세워줘.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D1D9"/>
                </a:solidFill>
                <a:latin typeface="Courier New"/>
              </a:rPr>
              <a:t>.... </a:t>
            </a:r>
            <a:r>
              <a:rPr sz="1400" b="0" i="0">
                <a:solidFill>
                  <a:srgbClr val="FFFFFF"/>
                </a:solidFill>
                <a:latin typeface="Courier New"/>
              </a:rPr>
              <a:t>맵은 랜덤 방, seed 고정 가능하게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F2328"/>
                </a:solidFill>
                <a:latin typeface="Courier New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9D1D9"/>
                </a:solidFill>
                <a:latin typeface="Courier New"/>
              </a:rPr>
              <a:t>orch:idle plan:busy eval:idle dev:idle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9D1D9"/>
                </a:solidFill>
                <a:latin typeface="Courier New"/>
              </a:rPr>
              <a:t>phase: plan   q:0 h:0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1F2328"/>
                </a:solidFill>
                <a:latin typeface="Courier New"/>
              </a:rPr>
              <a:t>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78308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Malgun Gothic"/>
              </a:rPr>
              <a:t>오케스트레이터에게 전송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4688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1F2328"/>
                </a:solidFill>
                <a:latin typeface="Courier New"/>
              </a:rPr>
              <a:t>Ctrl+J · Alt+Enter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46888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Malgun Gothic"/>
              </a:rPr>
              <a:t>줄바꿈 (Shift+Enter도 지원 터미널에서)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546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1F2328"/>
                </a:solidFill>
                <a:latin typeface="Courier New"/>
              </a:rPr>
              <a:t>↑ · k / Ctrl+R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15468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Malgun Gothic"/>
              </a:rPr>
              <a:t>이전 입력 히스토리 · 검색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1F2328"/>
                </a:solidFill>
                <a:latin typeface="Courier New"/>
              </a:rPr>
              <a:t>질문 수신 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84048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Malgun Gothic"/>
              </a:rPr>
              <a:t>다음 Enter가 자동으로 답변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5262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1F2328"/>
                </a:solidFill>
                <a:latin typeface="Courier New"/>
              </a:rPr>
              <a:t>/ads status · inbox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2628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Malgun Gothic"/>
              </a:rPr>
              <a:t>상태 · 받은 메시지 보기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212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00" b="1">
                <a:solidFill>
                  <a:srgbClr val="1F2328"/>
                </a:solidFill>
                <a:latin typeface="Courier New"/>
              </a:rPr>
              <a:t>Ctrl+a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21208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Malgun Gothic"/>
              </a:rPr>
              <a:t>tmux에서 나가기 (에이전트는 계속 실행)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636E"/>
                </a:solidFill>
                <a:latin typeface="Malgun Gothic"/>
              </a:rPr>
              <a:t>ads · Audiso Development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636E"/>
                </a:solidFill>
                <a:latin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2328"/>
                </a:solidFill>
                <a:latin typeface="Malgun Gothic"/>
              </a:rPr>
              <a:t>여러 프로젝트를 동시에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9636E"/>
                </a:solidFill>
                <a:latin typeface="Malgun Gothic"/>
              </a:rPr>
              <a:t>프로젝트마다 상태 · 계획 · Lab Notes · tmux 서버를 분리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577840" cy="4251960"/>
          </a:xfrm>
          <a:prstGeom prst="roundRect">
            <a:avLst>
              <a:gd name="adj" fmla="val 6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892807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92807"/>
            <a:ext cx="100584" cy="100584"/>
          </a:xfrm>
          <a:prstGeom prst="ellipse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892807"/>
            <a:ext cx="100584" cy="100584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801368"/>
            <a:ext cx="4663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08F"/>
                </a:solidFill>
                <a:latin typeface="Courier New"/>
              </a:rPr>
              <a:t>~/workspace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5EE08F"/>
                </a:solidFill>
                <a:latin typeface="Courier New"/>
              </a:rPr>
              <a:t>ads/</a:t>
            </a:r>
            <a:r>
              <a:rPr sz="1300" b="0" i="0">
                <a:solidFill>
                  <a:srgbClr val="C9D1D9"/>
                </a:solidFill>
                <a:latin typeface="Courier New"/>
              </a:rPr>
              <a:t>              ads 도구 (git clone)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├ projects/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│ ├ audiso-rag/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E08E0B"/>
                </a:solidFill>
                <a:latin typeface="Courier New"/>
              </a:rPr>
              <a:t>│ │ ├ CLAUDE.md</a:t>
            </a:r>
            <a:r>
              <a:rPr sz="1300" b="0" i="0">
                <a:solidFill>
                  <a:srgbClr val="C9D1D9"/>
                </a:solidFill>
                <a:latin typeface="Courier New"/>
              </a:rPr>
              <a:t>    Lab Notes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│ │ ├ plan/</a:t>
            </a:r>
            <a:r>
              <a:rPr sz="1300" b="0" i="0">
                <a:solidFill>
                  <a:srgbClr val="C9D1D9"/>
                </a:solidFill>
                <a:latin typeface="Courier New"/>
              </a:rPr>
              <a:t>        계획서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│ │ └ work/</a:t>
            </a:r>
            <a:r>
              <a:rPr sz="1300" b="0" i="0">
                <a:solidFill>
                  <a:srgbClr val="C9D1D9"/>
                </a:solidFill>
                <a:latin typeface="Courier New"/>
              </a:rPr>
              <a:t>        메시지 · 로그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│ └ ascii-tetris/ ...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5EE08F"/>
                </a:solidFill>
                <a:latin typeface="Courier New"/>
              </a:rPr>
              <a:t>audiso-rag/</a:t>
            </a:r>
            <a:r>
              <a:rPr sz="1300" b="0" i="0">
                <a:solidFill>
                  <a:srgbClr val="C9D1D9"/>
                </a:solidFill>
                <a:latin typeface="Courier New"/>
              </a:rPr>
              <a:t>       소스 · git · docs/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5EE08F"/>
                </a:solidFill>
                <a:latin typeface="Courier New"/>
              </a:rPr>
              <a:t>ascii-tetris/</a:t>
            </a:r>
            <a:r>
              <a:rPr sz="1300" b="0" i="0">
                <a:solidFill>
                  <a:srgbClr val="C9D1D9"/>
                </a:solidFill>
                <a:latin typeface="Courier New"/>
              </a:rPr>
              <a:t>     소스 · git · docs/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78308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856231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9D55"/>
                </a:solidFill>
                <a:latin typeface="Courier New"/>
              </a:rPr>
              <a:t>ads audiso-rag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2402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ads 폴더 옆에 프로젝트 생성 · 실행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807208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880360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9D55"/>
                </a:solidFill>
                <a:latin typeface="Courier New"/>
              </a:rPr>
              <a:t>ads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26440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프로젝트 목록과 실행 상태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831336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904488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9D55"/>
                </a:solidFill>
                <a:latin typeface="Courier New"/>
              </a:rPr>
              <a:t>ads status -p &lt;name&gt;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2885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특정 프로젝트 상태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855464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928616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9D55"/>
                </a:solidFill>
                <a:latin typeface="Courier New"/>
              </a:rPr>
              <a:t>ads stop --all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531266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실행 중인 프로젝트 모두 종료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636E"/>
                </a:solidFill>
                <a:latin typeface="Malgun Gothic"/>
              </a:rPr>
              <a:t>ads · Audiso Development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636E"/>
                </a:solidFill>
                <a:latin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2328"/>
                </a:solidFill>
                <a:latin typeface="Malgun Gothic"/>
              </a:rPr>
              <a:t>만든 방법과 검증 결과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9636E"/>
                </a:solidFill>
                <a:latin typeface="Malgun Gothic"/>
              </a:rPr>
              <a:t>Fable 5.1로 계획 3라운드 검증 → Opus 5.5 에이전트가 마일스톤 10개로 구현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737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F9D55"/>
                </a:solidFill>
                <a:latin typeface="Courier New"/>
              </a:rPr>
              <a:t>461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874519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Malgun Gothic"/>
              </a:rPr>
              <a:t>자동 테스트 통과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1737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F9D55"/>
                </a:solidFill>
                <a:latin typeface="Courier New"/>
              </a:rPr>
              <a:t>5.3k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24612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Malgun Gothic"/>
              </a:rPr>
              <a:t>소스 코드 줄 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2628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617720"/>
            <a:ext cx="1737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F9D55"/>
                </a:solidFill>
                <a:latin typeface="Courier New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61772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328"/>
                </a:solidFill>
                <a:latin typeface="Malgun Gothic"/>
              </a:rPr>
              <a:t>계획 검증 라운드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572000" y="1691640"/>
          <a:ext cx="70866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0" y="5715000"/>
            <a:ext cx="7086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메시지 20건 모두 배달 · 재시도 0 · 보고 누락 0 · 평가자 PASS · 테스트 14/14 통과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636E"/>
                </a:solidFill>
                <a:latin typeface="Malgun Gothic"/>
              </a:rPr>
              <a:t>ads · Audiso Development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636E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F2328"/>
                </a:solidFill>
                <a:latin typeface="Malgun Gothic"/>
              </a:rPr>
              <a:t>시작하기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9636E"/>
                </a:solidFill>
                <a:latin typeface="Malgun Gothic"/>
              </a:rPr>
              <a:t>필요한 것: Python 3.14 · tmux 3.2+ · Claude Code 로그인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675120" cy="4251960"/>
          </a:xfrm>
          <a:prstGeom prst="roundRect">
            <a:avLst>
              <a:gd name="adj" fmla="val 6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892807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92807"/>
            <a:ext cx="100584" cy="100584"/>
          </a:xfrm>
          <a:prstGeom prst="ellipse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892807"/>
            <a:ext cx="100584" cy="100584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801368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08F"/>
                </a:solidFill>
                <a:latin typeface="Courier New"/>
              </a:rPr>
              <a:t>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62179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9D1D9"/>
                </a:solidFill>
                <a:latin typeface="Courier New"/>
              </a:rPr>
              <a:t>$ 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cd ~/workspace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9D1D9"/>
                </a:solidFill>
                <a:latin typeface="Courier New"/>
              </a:rPr>
              <a:t>$ 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git clone https://github.com/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pangyo-audiso/ads.git &amp;&amp; cd ads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9D1D9"/>
                </a:solidFill>
                <a:latin typeface="Courier New"/>
              </a:rPr>
              <a:t>$ 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python3.14 -m venv .venv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9D1D9"/>
                </a:solidFill>
                <a:latin typeface="Courier New"/>
              </a:rPr>
              <a:t>$ 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.venv/bin/pip install -r requirements.txt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9D1D9"/>
                </a:solidFill>
                <a:latin typeface="Courier New"/>
              </a:rPr>
              <a:t>$ 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.venv/bin/pip install -e . --no-deps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9D1D9"/>
                </a:solidFill>
                <a:latin typeface="Courier New"/>
              </a:rPr>
              <a:t>$ </a:t>
            </a:r>
            <a:r>
              <a:rPr sz="1300" b="0" i="0">
                <a:solidFill>
                  <a:srgbClr val="FFFFFF"/>
                </a:solidFill>
                <a:latin typeface="Courier New"/>
              </a:rPr>
              <a:t>.venv/bin/ads doctor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9D1D9"/>
                </a:solidFill>
                <a:latin typeface="Courier New"/>
              </a:rPr>
              <a:t>$ </a:t>
            </a:r>
            <a:r>
              <a:rPr sz="1300" b="1" i="0">
                <a:solidFill>
                  <a:srgbClr val="5EE08F"/>
                </a:solidFill>
                <a:latin typeface="Courier New"/>
              </a:rPr>
              <a:t>.venv/bin/ads audiso-rag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783080"/>
            <a:ext cx="4069080" cy="123444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920240"/>
            <a:ext cx="3657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9D55"/>
                </a:solidFill>
                <a:latin typeface="Malgun Gothic"/>
              </a:rPr>
              <a:t>로그인은 한 번만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33172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claude auth login · ~/.claude/에 저장되어 재설치해도 유지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200400"/>
            <a:ext cx="4069080" cy="123444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3337560"/>
            <a:ext cx="3657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9D55"/>
                </a:solidFill>
                <a:latin typeface="Malgun Gothic"/>
              </a:rPr>
              <a:t>프로젝트 위치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749039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이름만 주면 ads 폴더 옆에 생성 (~/workspace/audiso-rag)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617720"/>
            <a:ext cx="4069080" cy="123444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4754880"/>
            <a:ext cx="3657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9D55"/>
                </a:solidFill>
                <a:latin typeface="Malgun Gothic"/>
              </a:rPr>
              <a:t>나가기 · 복귀 · 종료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166359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9636E"/>
                </a:solidFill>
                <a:latin typeface="Malgun Gothic"/>
              </a:rPr>
              <a:t>Ctrl+a d → ads attach → ads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636E"/>
                </a:solidFill>
                <a:latin typeface="Malgun Gothic"/>
              </a:rPr>
              <a:t>ads · Audiso Development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636E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남은 과제와 다음 단계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664207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664207"/>
            <a:ext cx="100584" cy="100584"/>
          </a:xfrm>
          <a:prstGeom prst="ellipse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664207"/>
            <a:ext cx="100584" cy="100584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572768"/>
            <a:ext cx="4480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08F"/>
                </a:solidFill>
                <a:latin typeface="Courier New"/>
              </a:rPr>
              <a:t>실제 Claude로 아직 검증 안 된 경로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5EE08F"/>
                </a:solidFill>
                <a:latin typeface="Malgun Gothic"/>
              </a:rPr>
              <a:t>› </a:t>
            </a:r>
            <a:r>
              <a:rPr sz="1800" b="0" i="0">
                <a:solidFill>
                  <a:srgbClr val="FFFFFF"/>
                </a:solidFill>
                <a:latin typeface="Malgun Gothic"/>
              </a:rPr>
              <a:t>코더 두 명 병렬 작업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5EE08F"/>
                </a:solidFill>
                <a:latin typeface="Malgun Gothic"/>
              </a:rPr>
              <a:t>› </a:t>
            </a:r>
            <a:r>
              <a:rPr sz="1800" b="0" i="0">
                <a:solidFill>
                  <a:srgbClr val="FFFFFF"/>
                </a:solidFill>
                <a:latin typeface="Malgun Gothic"/>
              </a:rPr>
              <a:t>실행 중 작업 취소 · 보류된 지시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5EE08F"/>
                </a:solidFill>
                <a:latin typeface="Malgun Gothic"/>
              </a:rPr>
              <a:t>› </a:t>
            </a:r>
            <a:r>
              <a:rPr sz="1800" b="0" i="0">
                <a:solidFill>
                  <a:srgbClr val="FFFFFF"/>
                </a:solidFill>
                <a:latin typeface="Malgun Gothic"/>
              </a:rPr>
              <a:t>개발자에게 질문 → 자동 답변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5EE08F"/>
                </a:solidFill>
                <a:latin typeface="Malgun Gothic"/>
              </a:rPr>
              <a:t>› </a:t>
            </a:r>
            <a:r>
              <a:rPr sz="1800" b="0" i="0">
                <a:solidFill>
                  <a:srgbClr val="FFFFFF"/>
                </a:solidFill>
                <a:latin typeface="Malgun Gothic"/>
              </a:rPr>
              <a:t>보고 누락 재촉 · 에이전트 /clear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22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664207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1664207"/>
            <a:ext cx="100584" cy="100584"/>
          </a:xfrm>
          <a:prstGeom prst="ellipse">
            <a:avLst/>
          </a:prstGeom>
          <a:solidFill>
            <a:srgbClr val="E08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66560" y="1664207"/>
            <a:ext cx="100584" cy="100584"/>
          </a:xfrm>
          <a:prstGeom prst="ellipse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59" y="1572768"/>
            <a:ext cx="4480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EE08F"/>
                </a:solidFill>
                <a:latin typeface="Courier New"/>
              </a:rPr>
              <a:t>다음 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47548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5EE08F"/>
                </a:solidFill>
                <a:latin typeface="Malgun Gothic"/>
              </a:rPr>
              <a:t>› </a:t>
            </a:r>
            <a:r>
              <a:rPr sz="1800" b="0" i="0">
                <a:solidFill>
                  <a:srgbClr val="FFFFFF"/>
                </a:solidFill>
                <a:latin typeface="Malgun Gothic"/>
              </a:rPr>
              <a:t>ASCII Tetris로 전체 흐름 시연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5EE08F"/>
                </a:solidFill>
                <a:latin typeface="Malgun Gothic"/>
              </a:rPr>
              <a:t>› </a:t>
            </a:r>
            <a:r>
              <a:rPr sz="1800" b="0" i="0">
                <a:solidFill>
                  <a:srgbClr val="FFFFFF"/>
                </a:solidFill>
                <a:latin typeface="Malgun Gothic"/>
              </a:rPr>
              <a:t>roguelike 데모 (docs/demo-roguelike.md)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5EE08F"/>
                </a:solidFill>
                <a:latin typeface="Malgun Gothic"/>
              </a:rPr>
              <a:t>› </a:t>
            </a:r>
            <a:r>
              <a:rPr sz="1800" b="0" i="0">
                <a:solidFill>
                  <a:srgbClr val="FFFFFF"/>
                </a:solidFill>
                <a:latin typeface="Malgun Gothic"/>
              </a:rPr>
              <a:t>Lab Notes가 실제로 쌓이는지 관찰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5EE08F"/>
                </a:solidFill>
                <a:latin typeface="Malgun Gothic"/>
              </a:rPr>
              <a:t>› </a:t>
            </a:r>
            <a:r>
              <a:rPr sz="1800" b="0" i="0">
                <a:solidFill>
                  <a:srgbClr val="FFFFFF"/>
                </a:solidFill>
                <a:latin typeface="Malgun Gothic"/>
              </a:rPr>
              <a:t>팀 내 사용 피드백 반영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EE08F"/>
                </a:solidFill>
                <a:latin typeface="Courier New"/>
              </a:rPr>
              <a:t>github.com/pangyo-audiso/ads</a:t>
            </a:r>
            <a:r>
              <a:rPr sz="1400" b="0" i="0">
                <a:solidFill>
                  <a:srgbClr val="C9D1D9"/>
                </a:solidFill>
                <a:latin typeface="Malgun Gothic"/>
              </a:rPr>
              <a:t>   ·   docs/usage.md · docs/protocol.md · docs/troubleshooting.md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